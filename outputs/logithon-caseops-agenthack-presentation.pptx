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034196459d44992" /><Relationship Type="http://schemas.openxmlformats.org/officeDocument/2006/relationships/extended-properties" Target="/docProps/app.xml" Id="Rac50eac86e3a40d0" /><Relationship Type="http://schemas.openxmlformats.org/officeDocument/2006/relationships/officeDocument" Target="/ppt/presentation.xml" Id="R27fb79fe973c455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8a6536c86384413"/>
  </p:sldMasterIdLst>
  <p:notesMasterIdLst>
    <p:notesMasterId xmlns:r="http://schemas.openxmlformats.org/officeDocument/2006/relationships" r:id="R4129dc0792b34a0d"/>
  </p:notesMasterIdLst>
  <p:sldIdLst>
    <p:sldId xmlns:r="http://schemas.openxmlformats.org/officeDocument/2006/relationships" id="256" r:id="Rc3d0d6f669204b80"/>
    <p:sldId xmlns:r="http://schemas.openxmlformats.org/officeDocument/2006/relationships" id="257" r:id="R89b01c303ef34ba2"/>
    <p:sldId xmlns:r="http://schemas.openxmlformats.org/officeDocument/2006/relationships" id="258" r:id="Rc10ec6199c1b4588"/>
    <p:sldId xmlns:r="http://schemas.openxmlformats.org/officeDocument/2006/relationships" id="259" r:id="R38ed32688d25443e"/>
    <p:sldId xmlns:r="http://schemas.openxmlformats.org/officeDocument/2006/relationships" id="260" r:id="R3af580b16dbd4f2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0c1fd9c274c4b9e" /><Relationship Type="http://schemas.openxmlformats.org/officeDocument/2006/relationships/slideMaster" Target="/ppt/slideMasters/slideMaster1.xml" Id="R58a6536c86384413" /><Relationship Type="http://schemas.openxmlformats.org/officeDocument/2006/relationships/notesMaster" Target="/ppt/notesMasters/notesMaster1.xml" Id="R4129dc0792b34a0d" /><Relationship Type="http://schemas.openxmlformats.org/officeDocument/2006/relationships/presProps" Target="/ppt/presProps.xml" Id="Rff811c70c6074d9e" /><Relationship Type="http://schemas.openxmlformats.org/officeDocument/2006/relationships/tableStyles" Target="/ppt/tableStyles.xml" Id="R30d76dd225614c4c" /><Relationship Type="http://schemas.openxmlformats.org/officeDocument/2006/relationships/slide" Target="/ppt/slides/slide1.xml" Id="Rc3d0d6f669204b80" /><Relationship Type="http://schemas.openxmlformats.org/officeDocument/2006/relationships/slide" Target="/ppt/slides/slide2.xml" Id="R89b01c303ef34ba2" /><Relationship Type="http://schemas.openxmlformats.org/officeDocument/2006/relationships/slide" Target="/ppt/slides/slide3.xml" Id="Rc10ec6199c1b4588" /><Relationship Type="http://schemas.openxmlformats.org/officeDocument/2006/relationships/slide" Target="/ppt/slides/slide4.xml" Id="R38ed32688d25443e" /><Relationship Type="http://schemas.openxmlformats.org/officeDocument/2006/relationships/slide" Target="/ppt/slides/slide5.xml" Id="R3af580b16dbd4f2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5a00e3378284e5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8cdff2bfe034247" /><Relationship Type="http://schemas.openxmlformats.org/officeDocument/2006/relationships/notesMaster" Target="/ppt/notesMasters/notesMaster1.xml" Id="Re2eead5523f7484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d678afa7ce0441a" /><Relationship Type="http://schemas.openxmlformats.org/officeDocument/2006/relationships/notesMaster" Target="/ppt/notesMasters/notesMaster1.xml" Id="R863f7e9a2abd44d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8bba1890a184559" /><Relationship Type="http://schemas.openxmlformats.org/officeDocument/2006/relationships/notesMaster" Target="/ppt/notesMasters/notesMaster1.xml" Id="R14767a4e63634fe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41c461c3cd04b8d" /><Relationship Type="http://schemas.openxmlformats.org/officeDocument/2006/relationships/notesMaster" Target="/ppt/notesMasters/notesMaster1.xml" Id="R8c6aa45c27a34bd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a61b3e5d9ff4948" /><Relationship Type="http://schemas.openxmlformats.org/officeDocument/2006/relationships/notesMaster" Target="/ppt/notesMasters/notesMaster1.xml" Id="R54f88cee77d74a9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a76fe6ef294e4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618302707584da4" /><Relationship Type="http://schemas.openxmlformats.org/officeDocument/2006/relationships/slideLayout" Target="/ppt/slideLayouts/slideLayout1.xml" Id="R55a5165fc547442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5a5165fc547442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61bbfdf21d4b6f" /><Relationship Type="http://schemas.openxmlformats.org/officeDocument/2006/relationships/notesSlide" Target="/ppt/notesSlides/notesSlide1.xml" Id="R73d156ac3d344fe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4c4a4361c24acd" /><Relationship Type="http://schemas.openxmlformats.org/officeDocument/2006/relationships/notesSlide" Target="/ppt/notesSlides/notesSlide2.xml" Id="Re9108ccb1ad9437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bc312ee1d94eb1" /><Relationship Type="http://schemas.openxmlformats.org/officeDocument/2006/relationships/notesSlide" Target="/ppt/notesSlides/notesSlide3.xml" Id="R5be8498a021148f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c3489cd8794676" /><Relationship Type="http://schemas.openxmlformats.org/officeDocument/2006/relationships/notesSlide" Target="/ppt/notesSlides/notesSlide4.xml" Id="R0bf6f15d239e475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09f0f4c8454f71" /><Relationship Type="http://schemas.openxmlformats.org/officeDocument/2006/relationships/notesSlide" Target="/ppt/notesSlides/notesSlide5.xml" Id="R6735724e7fb5461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8821CD3-4FAC-4911-9FA9-B0526A1D5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752527-C66D-456E-B164-B181B79EE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B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412676-BA7D-41A1-B63D-B87781EE4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20002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22313B"/>
          </a:solidFill>
          <a:ln xmlns:a="http://schemas.openxmlformats.org/drawingml/2006/main" w="9525">
            <a:solidFill>
              <a:srgbClr val="C8DAE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UiPath Maestro Case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4C01C2-D510-46E3-A9FE-824576270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685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Logithon CaseOps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2F136B-A457-4E0C-9648-833B2C5F0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7429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D9E8EE"/>
                </a:solidFill>
              </a:defRPr>
            </a:pPr>
            <a:r>
              <a:rPr sz="1950" b="0">
                <a:solidFill>
                  <a:srgbClr val="D9E8EE"/>
                </a:solidFill>
              </a:rPr>
              <a:t>3D cargo load planning, risk scoring, and dispatch orchestration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0F3DA8-5772-4F5D-8C4F-F6E6D39DA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295400"/>
            <a:ext cx="2857500" cy="3238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6252E"/>
          </a:solidFill>
          <a:ln xmlns:a="http://schemas.openxmlformats.org/drawingml/2006/main" w="9525">
            <a:solidFill>
              <a:srgbClr val="334B5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300ACD-654C-439B-ADC3-07EB30FBA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7335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Inputs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6BA99A-7845-4B19-A4F4-C46821952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152650"/>
            <a:ext cx="2000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9E8EE"/>
                </a:solidFill>
              </a:defRPr>
            </a:pPr>
            <a:r>
              <a:rPr sz="1800" b="0">
                <a:solidFill>
                  <a:srgbClr val="D9E8EE"/>
                </a:solidFill>
              </a:rPr>
              <a:t>Truck size</a:t>
            </a:r>
          </a:p>
          <a:p xmlns:a="http://schemas.openxmlformats.org/drawingml/2006/main">
            <a:pPr algn="l">
              <a:defRPr sz="1800" b="0">
                <a:solidFill>
                  <a:srgbClr val="D9E8EE"/>
                </a:solidFill>
              </a:defRPr>
            </a:pPr>
            <a:r>
              <a:rPr sz="1800" b="0">
                <a:solidFill>
                  <a:srgbClr val="D9E8EE"/>
                </a:solidFill>
              </a:rPr>
              <a:t>Cargo count</a:t>
            </a:r>
          </a:p>
          <a:p xmlns:a="http://schemas.openxmlformats.org/drawingml/2006/main">
            <a:pPr algn="l">
              <a:defRPr sz="1800" b="0">
                <a:solidFill>
                  <a:srgbClr val="D9E8EE"/>
                </a:solidFill>
              </a:defRPr>
            </a:pPr>
            <a:r>
              <a:rPr sz="1800" b="0">
                <a:solidFill>
                  <a:srgbClr val="D9E8EE"/>
                </a:solidFill>
              </a:rPr>
              <a:t>Weight</a:t>
            </a:r>
          </a:p>
          <a:p xmlns:a="http://schemas.openxmlformats.org/drawingml/2006/main">
            <a:pPr algn="l">
              <a:defRPr sz="1800" b="0">
                <a:solidFill>
                  <a:srgbClr val="D9E8EE"/>
                </a:solidFill>
              </a:defRPr>
            </a:pPr>
            <a:r>
              <a:rPr sz="1800" b="0">
                <a:solidFill>
                  <a:srgbClr val="D9E8EE"/>
                </a:solidFill>
              </a:rPr>
              <a:t>Dimensions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55E5E0-46D0-46F2-9226-FFE44C9D9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7528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B199"/>
                </a:solidFill>
              </a:defRPr>
            </a:pPr>
            <a:r>
              <a:rPr sz="1500" b="1">
                <a:solidFill>
                  <a:srgbClr val="FFB199"/>
                </a:solidFill>
              </a:rPr>
              <a:t>Output: safer dispatch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99D963-25C9-4E6A-8F8B-6860CDBF7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293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FC5CF"/>
                </a:solidFill>
              </a:defRPr>
            </a:pPr>
            <a:r>
              <a:rPr sz="1275" b="0">
                <a:solidFill>
                  <a:srgbClr val="AFC5CF"/>
                </a:solidFill>
              </a:rPr>
              <a:t>Built by Mongoo T</a:t>
            </a:r>
          </a:p>
        </p:txBody>
      </p:sp>
    </p:spTree>
    <p:extLst>
      <p:ext uri="{BB962C8B-B14F-4D97-AF65-F5344CB8AC3E}">
        <p14:creationId xmlns:p14="http://schemas.microsoft.com/office/powerpoint/2010/main" val="7690392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0EEDEE7-0B95-4321-982A-304F51E6A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B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A2245C-5639-44CF-B7F4-EE0F32F79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820"/>
                </a:solidFill>
              </a:defRPr>
            </a:pPr>
            <a:r>
              <a:rPr sz="2700" b="1">
                <a:solidFill>
                  <a:srgbClr val="101820"/>
                </a:solidFill>
              </a:rPr>
              <a:t>Problem and solution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44A1FF-344D-4BB2-9336-8FC47FE67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17A"/>
                </a:solidFill>
              </a:defRPr>
            </a:pPr>
            <a:r>
              <a:rPr sz="900" b="0">
                <a:solidFill>
                  <a:srgbClr val="65717A"/>
                </a:solidFill>
              </a:rPr>
              <a:t>UiPath AgentHack 2026 | Logithon CaseOps |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E807EC-F9B3-4A76-B933-1C24C70C5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4857750" cy="38862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51254E-5AF0-4BC6-8E0D-FDCE11DCE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820"/>
                </a:solidFill>
              </a:defRPr>
            </a:pPr>
            <a:r>
              <a:rPr sz="2100" b="1">
                <a:solidFill>
                  <a:srgbClr val="101820"/>
                </a:solidFill>
              </a:rPr>
              <a:t>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2584E5-CBFF-47C7-8DF9-F97BD459A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81250"/>
            <a:ext cx="38576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334B57"/>
                </a:solidFill>
              </a:defRPr>
            </a:pPr>
            <a:r>
              <a:rPr sz="1725" b="0">
                <a:solidFill>
                  <a:srgbClr val="334B57"/>
                </a:solidFill>
              </a:rPr>
              <a:t>Cargo loading decisions are often manual, slow, and hard to audit. Teams must balance truck capacity, item count, stability, and dispatch risk under time pressure.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8B5183-3E3A-4DC6-84F2-075A01DD9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409700"/>
            <a:ext cx="4857750" cy="38862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FF7F4"/>
          </a:solidFill>
          <a:ln xmlns:a="http://schemas.openxmlformats.org/drawingml/2006/main" w="9525">
            <a:solidFill>
              <a:srgbClr val="FFD6C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D7EB6D-C686-4FD9-8B58-6456C4EA2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09750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820"/>
                </a:solidFill>
              </a:defRPr>
            </a:pPr>
            <a:r>
              <a:rPr sz="2100" b="1">
                <a:solidFill>
                  <a:srgbClr val="101820"/>
                </a:solidFill>
              </a:rPr>
              <a:t>Our solution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B66656-A03C-4EBB-9F2E-9D0311CC9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81250"/>
            <a:ext cx="3857625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334B57"/>
                </a:solidFill>
              </a:defRPr>
            </a:pPr>
            <a:r>
              <a:rPr sz="1725" b="0">
                <a:solidFill>
                  <a:srgbClr val="334B57"/>
                </a:solidFill>
              </a:rPr>
              <a:t>Logithon CaseOps turns each shipment into a UiPath Maestro case with intake, evidence review, 3D load planning, risk scoring, approval, dispatch, and closure.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5D4593-5A97-458D-ADB4-89C890779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619750"/>
            <a:ext cx="37909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4B2B"/>
          </a:solidFill>
          <a:ln xmlns:a="http://schemas.openxmlformats.org/drawingml/2006/main" w="9525">
            <a:solidFill>
              <a:srgbClr val="C8DAE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Manual work -&gt; auditable case</a:t>
            </a:r>
          </a:p>
        </p:txBody>
      </p:sp>
    </p:spTree>
    <p:extLst>
      <p:ext uri="{BB962C8B-B14F-4D97-AF65-F5344CB8AC3E}">
        <p14:creationId xmlns:p14="http://schemas.microsoft.com/office/powerpoint/2010/main" val="15590105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CAB7FFD-7CE8-44B8-9E0B-A4A028450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B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A7E56B-D24A-470D-BD54-FF26D33C2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820"/>
                </a:solidFill>
              </a:defRPr>
            </a:pPr>
            <a:r>
              <a:rPr sz="2700" b="1">
                <a:solidFill>
                  <a:srgbClr val="101820"/>
                </a:solidFill>
              </a:rPr>
              <a:t>What it does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6D7409-BBFB-4420-937F-CC9768F71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17A"/>
                </a:solidFill>
              </a:defRPr>
            </a:pPr>
            <a:r>
              <a:rPr sz="900" b="0">
                <a:solidFill>
                  <a:srgbClr val="65717A"/>
                </a:solidFill>
              </a:rPr>
              <a:t>UiPath AgentHack 2026 | Logithon CaseOps | 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0FB7EF-A6D4-4E2E-A659-F7F76F01F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2400300" cy="30480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DF840D-2B46-4CAC-A7D5-DC59AEE27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05000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4B2B"/>
                </a:solidFill>
              </a:defRPr>
            </a:pPr>
            <a:r>
              <a:rPr sz="1650" b="1">
                <a:solidFill>
                  <a:srgbClr val="FF4B2B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0EB184-012E-47B8-B13D-20BF5C968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820"/>
                </a:solidFill>
              </a:defRPr>
            </a:pPr>
            <a:r>
              <a:rPr sz="2025" b="1">
                <a:solidFill>
                  <a:srgbClr val="101820"/>
                </a:solidFill>
              </a:rPr>
              <a:t>Cargo fit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D092AB-1475-44BE-B51B-030E29648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19450"/>
            <a:ext cx="18478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B57"/>
                </a:solidFill>
              </a:defRPr>
            </a:pPr>
            <a:r>
              <a:rPr sz="1350" b="0">
                <a:solidFill>
                  <a:srgbClr val="334B57"/>
                </a:solidFill>
              </a:rPr>
              <a:t>Counts cargo, checks truck capacity, and validates item dimensions.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2A62B0-7C4D-4FFE-975D-361E254A3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600200"/>
            <a:ext cx="2400300" cy="30480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7F4"/>
          </a:solidFill>
          <a:ln xmlns:a="http://schemas.openxmlformats.org/drawingml/2006/main" w="9525">
            <a:solidFill>
              <a:srgbClr val="FFD6C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5AC48A-290C-4C7F-961E-CEF77985B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905000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4B2B"/>
                </a:solidFill>
              </a:defRPr>
            </a:pPr>
            <a:r>
              <a:rPr sz="1650" b="1">
                <a:solidFill>
                  <a:srgbClr val="FF4B2B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F6904F-A2AA-443C-8D67-1BFF0B9C1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41935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820"/>
                </a:solidFill>
              </a:defRPr>
            </a:pPr>
            <a:r>
              <a:rPr sz="2025" b="1">
                <a:solidFill>
                  <a:srgbClr val="101820"/>
                </a:solidFill>
              </a:rPr>
              <a:t>3D load plan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CF2F41-5130-4A50-A6B6-FAACCDDB1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219450"/>
            <a:ext cx="18478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B57"/>
                </a:solidFill>
              </a:defRPr>
            </a:pPr>
            <a:r>
              <a:rPr sz="1350" b="0">
                <a:solidFill>
                  <a:srgbClr val="334B57"/>
                </a:solidFill>
              </a:rPr>
              <a:t>Generates deterministic x/y/z placements for cargo boxes.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62E956-D776-4CD6-81EA-26080220E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600200"/>
            <a:ext cx="2400300" cy="30480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F0F05C-EFBA-44A0-81BF-5093CBB89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05000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4B2B"/>
                </a:solidFill>
              </a:defRPr>
            </a:pPr>
            <a:r>
              <a:rPr sz="1650" b="1">
                <a:solidFill>
                  <a:srgbClr val="FF4B2B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4DCE60-9AEB-4B4B-8F4A-54FA22FD4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1935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820"/>
                </a:solidFill>
              </a:defRPr>
            </a:pPr>
            <a:r>
              <a:rPr sz="2025" b="1">
                <a:solidFill>
                  <a:srgbClr val="101820"/>
                </a:solidFill>
              </a:rPr>
              <a:t>Risk score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3E97F1-0F7C-4F2C-B400-AF3DB86A2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19450"/>
            <a:ext cx="18478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B57"/>
                </a:solidFill>
              </a:defRPr>
            </a:pPr>
            <a:r>
              <a:rPr sz="1350" b="0">
                <a:solidFill>
                  <a:srgbClr val="334B57"/>
                </a:solidFill>
              </a:rPr>
              <a:t>Flags overload, imbalance, unsupported cargo, and dispatch blockers.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9F2D7B-496E-40B7-80A0-F2E86EB1E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600200"/>
            <a:ext cx="2400300" cy="30480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EBAD21-0EBB-45D0-BB05-2A3636C34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905000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4B2B"/>
                </a:solidFill>
              </a:defRPr>
            </a:pPr>
            <a:r>
              <a:rPr sz="1650" b="1">
                <a:solidFill>
                  <a:srgbClr val="FF4B2B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45FD46-D392-4A80-8953-4AD36F65C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41935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820"/>
                </a:solidFill>
              </a:defRPr>
            </a:pPr>
            <a:r>
              <a:rPr sz="2025" b="1">
                <a:solidFill>
                  <a:srgbClr val="101820"/>
                </a:solidFill>
              </a:rPr>
              <a:t>Dispatch guidance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8B772B-0985-45EF-B9CB-85B51D076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219450"/>
            <a:ext cx="18478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B57"/>
                </a:solidFill>
              </a:defRPr>
            </a:pPr>
            <a:r>
              <a:rPr sz="1350" b="0">
                <a:solidFill>
                  <a:srgbClr val="334B57"/>
                </a:solidFill>
              </a:rPr>
              <a:t>Produces clear instructions and exception paths for operators.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4C84A2-A2E8-4BE8-B930-70298B93C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0"/>
                </a:solidFill>
              </a:defRPr>
            </a:pPr>
            <a:r>
              <a:rPr sz="1800" b="1">
                <a:solidFill>
                  <a:srgbClr val="101820"/>
                </a:solidFill>
              </a:rPr>
              <a:t>Real calculations, not fake performance claims.</a:t>
            </a:r>
          </a:p>
        </p:txBody>
      </p:sp>
    </p:spTree>
    <p:extLst>
      <p:ext uri="{BB962C8B-B14F-4D97-AF65-F5344CB8AC3E}">
        <p14:creationId xmlns:p14="http://schemas.microsoft.com/office/powerpoint/2010/main" val="24738995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9DD3949-AFB1-4F5C-BFFF-CBEC8EF81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B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AEF662-0F5F-4798-A37C-2FEC94BF4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820"/>
                </a:solidFill>
              </a:defRPr>
            </a:pPr>
            <a:r>
              <a:rPr sz="2700" b="1">
                <a:solidFill>
                  <a:srgbClr val="101820"/>
                </a:solidFill>
              </a:rPr>
              <a:t>How we built 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641AE3-4D8F-48FE-A473-0F82CC8B1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17A"/>
                </a:solidFill>
              </a:defRPr>
            </a:pPr>
            <a:r>
              <a:rPr sz="900" b="0">
                <a:solidFill>
                  <a:srgbClr val="65717A"/>
                </a:solidFill>
              </a:rPr>
              <a:t>UiPath AgentHack 2026 | Logithon CaseOps |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190C0C-D6A2-496C-8694-AEC93ABB3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19300"/>
            <a:ext cx="22860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800C3A-A26B-4911-BA0F-7A66A5100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669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4B2B"/>
                </a:solidFill>
              </a:defRPr>
            </a:pPr>
            <a:r>
              <a:rPr sz="1350" b="1">
                <a:solidFill>
                  <a:srgbClr val="FF4B2B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39C044-6FD8-4740-AAE4-34C95B2A7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0"/>
                </a:solidFill>
              </a:defRPr>
            </a:pPr>
            <a:r>
              <a:rPr sz="1500" b="1">
                <a:solidFill>
                  <a:srgbClr val="101820"/>
                </a:solidFill>
              </a:rPr>
              <a:t>React + Vite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5A1CD4-11E6-4CF5-B9DC-134E4100E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24200"/>
            <a:ext cx="1695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B57"/>
                </a:solidFill>
              </a:defRPr>
            </a:pPr>
            <a:r>
              <a:rPr sz="1125" b="0">
                <a:solidFill>
                  <a:srgbClr val="334B57"/>
                </a:solidFill>
              </a:rPr>
              <a:t>Interactive cargo planning UI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EF2E0E-C06A-42AE-97E6-7A313708E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019300"/>
            <a:ext cx="22860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ADC03F-000B-478C-8170-D61878308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2669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4B2B"/>
                </a:solidFill>
              </a:defRPr>
            </a:pPr>
            <a:r>
              <a:rPr sz="1350" b="1">
                <a:solidFill>
                  <a:srgbClr val="FF4B2B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62E0B5-145A-4D79-A6B9-1B97AEFC4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66700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0"/>
                </a:solidFill>
              </a:defRPr>
            </a:pPr>
            <a:r>
              <a:rPr sz="1500" b="1">
                <a:solidFill>
                  <a:srgbClr val="101820"/>
                </a:solidFill>
              </a:rPr>
              <a:t>Node + Express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2EDC57-AA1F-47FF-9C10-54B262313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124200"/>
            <a:ext cx="1695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B57"/>
                </a:solidFill>
              </a:defRPr>
            </a:pPr>
            <a:r>
              <a:rPr sz="1125" b="0">
                <a:solidFill>
                  <a:srgbClr val="334B57"/>
                </a:solidFill>
              </a:rPr>
              <a:t>API endpoints for planning and risk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2A7AFB-7760-49D1-882B-EB97B954C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19300"/>
            <a:ext cx="22860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79634A-D23F-4F58-B5C5-4D8475143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2669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4B2B"/>
                </a:solidFill>
              </a:defRPr>
            </a:pPr>
            <a:r>
              <a:rPr sz="1350" b="1">
                <a:solidFill>
                  <a:srgbClr val="FF4B2B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82519F-9E7E-4A03-9C58-6917C648C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66700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0"/>
                </a:solidFill>
              </a:defRPr>
            </a:pPr>
            <a:r>
              <a:rPr sz="1500" b="1">
                <a:solidFill>
                  <a:srgbClr val="101820"/>
                </a:solidFill>
              </a:rPr>
              <a:t>Load planner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7A0C5A-9045-4DE4-9977-B5E5585B9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124200"/>
            <a:ext cx="1695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B57"/>
                </a:solidFill>
              </a:defRPr>
            </a:pPr>
            <a:r>
              <a:rPr sz="1125" b="0">
                <a:solidFill>
                  <a:srgbClr val="334B57"/>
                </a:solidFill>
              </a:rPr>
              <a:t>Deterministic 3D placement logic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A7F72B-EC39-4806-A48B-A9737B2E4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019300"/>
            <a:ext cx="22860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4B2B"/>
          </a:solidFill>
          <a:ln xmlns:a="http://schemas.openxmlformats.org/drawingml/2006/main" w="9525">
            <a:solidFill>
              <a:srgbClr val="FF4B2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FD6C8A-13AD-4450-90A0-4BF97144C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2669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ECE7"/>
                </a:solidFill>
              </a:defRPr>
            </a:pPr>
            <a:r>
              <a:rPr sz="1350" b="1">
                <a:solidFill>
                  <a:srgbClr val="FFECE7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3B1F5B-1E8A-4BAB-A0D1-462FC2A6E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66700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UiPath Maestro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110F8F-AE40-421F-AC9D-A3BA90AE4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124200"/>
            <a:ext cx="1695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ECE7"/>
                </a:solidFill>
              </a:defRPr>
            </a:pPr>
            <a:r>
              <a:rPr sz="1125" b="0">
                <a:solidFill>
                  <a:srgbClr val="FFECE7"/>
                </a:solidFill>
              </a:rPr>
              <a:t>Case stages, rules, approvals, exceptions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AC9838-7F46-443F-AA3E-F0E8E1B29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533900"/>
            <a:ext cx="9258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334B57"/>
                </a:solidFill>
              </a:defRPr>
            </a:pPr>
            <a:r>
              <a:rPr sz="1800" b="0">
                <a:solidFill>
                  <a:srgbClr val="334B57"/>
                </a:solidFill>
              </a:rPr>
              <a:t>Maestro is the orchestration layer. The working web/API engine performs cargo fit, load planning, risk scoring, and dispatch logic.</a:t>
            </a:r>
          </a:p>
        </p:txBody>
      </p:sp>
    </p:spTree>
    <p:extLst>
      <p:ext uri="{BB962C8B-B14F-4D97-AF65-F5344CB8AC3E}">
        <p14:creationId xmlns:p14="http://schemas.microsoft.com/office/powerpoint/2010/main" val="112633501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B901FFB-F433-43AE-A016-DD23C0A6D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B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1446CF-6492-4837-887C-875C1E276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820"/>
                </a:solidFill>
              </a:defRPr>
            </a:pPr>
            <a:r>
              <a:rPr sz="2700" b="1">
                <a:solidFill>
                  <a:srgbClr val="101820"/>
                </a:solidFill>
              </a:rPr>
              <a:t>Why it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EF197E-64F7-43D1-AB4B-9A89D2C37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17A"/>
                </a:solidFill>
              </a:defRPr>
            </a:pPr>
            <a:r>
              <a:rPr sz="900" b="0">
                <a:solidFill>
                  <a:srgbClr val="65717A"/>
                </a:solidFill>
              </a:rPr>
              <a:t>UiPath AgentHack 2026 | Logithon CaseOps | 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1D00FB-E2B3-4C0C-B968-0FE2C53A2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85900"/>
            <a:ext cx="49530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7F4"/>
          </a:solidFill>
          <a:ln xmlns:a="http://schemas.openxmlformats.org/drawingml/2006/main" w="9525">
            <a:solidFill>
              <a:srgbClr val="FFD6C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3BFEDA-3FA0-472D-BC68-8B20E7990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9050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820"/>
                </a:solidFill>
              </a:defRPr>
            </a:pPr>
            <a:r>
              <a:rPr sz="2100" b="1">
                <a:solidFill>
                  <a:srgbClr val="101820"/>
                </a:solidFill>
              </a:rPr>
              <a:t>Business impact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2DE286-720B-43AC-85BC-C34F4B786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533650"/>
            <a:ext cx="37338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34B57"/>
                </a:solidFill>
              </a:defRPr>
            </a:pPr>
            <a:r>
              <a:rPr sz="1875" b="0">
                <a:solidFill>
                  <a:srgbClr val="334B57"/>
                </a:solidFill>
              </a:rPr>
              <a:t>Faster loading decisions</a:t>
            </a:r>
          </a:p>
          <a:p xmlns:a="http://schemas.openxmlformats.org/drawingml/2006/main">
            <a:pPr algn="l">
              <a:defRPr sz="1875" b="0">
                <a:solidFill>
                  <a:srgbClr val="334B57"/>
                </a:solidFill>
              </a:defRPr>
            </a:pPr>
            <a:r>
              <a:rPr sz="1875" b="0">
                <a:solidFill>
                  <a:srgbClr val="334B57"/>
                </a:solidFill>
              </a:rPr>
              <a:t>Lower dispatch risk</a:t>
            </a:r>
          </a:p>
          <a:p xmlns:a="http://schemas.openxmlformats.org/drawingml/2006/main">
            <a:pPr algn="l">
              <a:defRPr sz="1875" b="0">
                <a:solidFill>
                  <a:srgbClr val="334B57"/>
                </a:solidFill>
              </a:defRPr>
            </a:pPr>
            <a:r>
              <a:rPr sz="1875" b="0">
                <a:solidFill>
                  <a:srgbClr val="334B57"/>
                </a:solidFill>
              </a:rPr>
              <a:t>Clear evidence trail</a:t>
            </a:r>
          </a:p>
          <a:p xmlns:a="http://schemas.openxmlformats.org/drawingml/2006/main">
            <a:pPr algn="l">
              <a:defRPr sz="1875" b="0">
                <a:solidFill>
                  <a:srgbClr val="334B57"/>
                </a:solidFill>
              </a:defRPr>
            </a:pPr>
            <a:r>
              <a:rPr sz="1875" b="0">
                <a:solidFill>
                  <a:srgbClr val="334B57"/>
                </a:solidFill>
              </a:rPr>
              <a:t>Reusable case workflow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173BE6-1E33-4958-97CD-76E34E393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485900"/>
            <a:ext cx="47625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4B45FE-447F-48F2-B139-744924099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9050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820"/>
                </a:solidFill>
              </a:defRPr>
            </a:pPr>
            <a:r>
              <a:rPr sz="2100" b="1">
                <a:solidFill>
                  <a:srgbClr val="101820"/>
                </a:solidFill>
              </a:rPr>
              <a:t>Next steps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77E1AB-998B-4860-8B4D-EB47CB317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533650"/>
            <a:ext cx="371475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34B57"/>
                </a:solidFill>
              </a:defRPr>
            </a:pPr>
            <a:r>
              <a:rPr sz="1800" b="0">
                <a:solidFill>
                  <a:srgbClr val="334B57"/>
                </a:solidFill>
              </a:rPr>
              <a:t>Deploy the API publicly</a:t>
            </a:r>
          </a:p>
          <a:p xmlns:a="http://schemas.openxmlformats.org/drawingml/2006/main">
            <a:pPr algn="l">
              <a:defRPr sz="1800" b="0">
                <a:solidFill>
                  <a:srgbClr val="334B57"/>
                </a:solidFill>
              </a:defRPr>
            </a:pPr>
            <a:r>
              <a:rPr sz="1800" b="0">
                <a:solidFill>
                  <a:srgbClr val="334B57"/>
                </a:solidFill>
              </a:rPr>
              <a:t>Connect Maestro to API workflows</a:t>
            </a:r>
          </a:p>
          <a:p xmlns:a="http://schemas.openxmlformats.org/drawingml/2006/main">
            <a:pPr algn="l">
              <a:defRPr sz="1800" b="0">
                <a:solidFill>
                  <a:srgbClr val="334B57"/>
                </a:solidFill>
              </a:defRPr>
            </a:pPr>
            <a:r>
              <a:rPr sz="1800" b="0">
                <a:solidFill>
                  <a:srgbClr val="334B57"/>
                </a:solidFill>
              </a:rPr>
              <a:t>Add production Action Center approvals</a:t>
            </a:r>
          </a:p>
          <a:p xmlns:a="http://schemas.openxmlformats.org/drawingml/2006/main">
            <a:pPr algn="l">
              <a:defRPr sz="1800" b="0">
                <a:solidFill>
                  <a:srgbClr val="334B57"/>
                </a:solidFill>
              </a:defRPr>
            </a:pPr>
            <a:r>
              <a:rPr sz="1800" b="0">
                <a:solidFill>
                  <a:srgbClr val="334B57"/>
                </a:solidFill>
              </a:rPr>
              <a:t>Support more truck/container types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E239C7-E989-4CB8-A427-8CBB9D78A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410200"/>
            <a:ext cx="41910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C8DAE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GitHub: mongonsh/SILO</a:t>
            </a:r>
          </a:p>
        </p:txBody>
      </p:sp>
    </p:spTree>
    <p:extLst>
      <p:ext uri="{BB962C8B-B14F-4D97-AF65-F5344CB8AC3E}">
        <p14:creationId xmlns:p14="http://schemas.microsoft.com/office/powerpoint/2010/main" val="21150029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2026-06-30T03:04:53.4670000Z</dcterms:created>
  <dcterms:modified xsi:type="dcterms:W3CDTF">2026-06-30T03:04:53.4670000Z</dcterms:modified>
</coreProperties>
</file>